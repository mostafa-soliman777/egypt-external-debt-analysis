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https://github.com/MOSTAFA-SOLIMAN777/Egypt-external-debt-analysis/tree/main" TargetMode="External" Type="http://schemas.openxmlformats.org/officeDocument/2006/relationships/hyperlink"/><Relationship Id="rId7" Target="https://www.linkedin.com/in/mostafa-soliman-5610491b5" TargetMode="External" Type="http://schemas.openxmlformats.org/officeDocument/2006/relationships/hyperlink"/><Relationship Id="rId8" Target="https://github.com/MOSTAFA-SOLIMAN777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04232" y="2015966"/>
            <a:ext cx="6255068" cy="6255068"/>
          </a:xfrm>
          <a:custGeom>
            <a:avLst/>
            <a:gdLst/>
            <a:ahLst/>
            <a:cxnLst/>
            <a:rect r="r" b="b" t="t" l="l"/>
            <a:pathLst>
              <a:path h="6255068" w="6255068">
                <a:moveTo>
                  <a:pt x="0" y="0"/>
                </a:moveTo>
                <a:lnTo>
                  <a:pt x="6255068" y="0"/>
                </a:lnTo>
                <a:lnTo>
                  <a:pt x="6255068" y="6255068"/>
                </a:lnTo>
                <a:lnTo>
                  <a:pt x="0" y="6255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902" y="2804587"/>
            <a:ext cx="10042250" cy="1438812"/>
            <a:chOff x="0" y="0"/>
            <a:chExt cx="2644872" cy="37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44872" cy="378946"/>
            </a:xfrm>
            <a:custGeom>
              <a:avLst/>
              <a:gdLst/>
              <a:ahLst/>
              <a:cxnLst/>
              <a:rect r="r" b="b" t="t" l="l"/>
              <a:pathLst>
                <a:path h="378946" w="2644872">
                  <a:moveTo>
                    <a:pt x="77093" y="0"/>
                  </a:moveTo>
                  <a:lnTo>
                    <a:pt x="2567779" y="0"/>
                  </a:lnTo>
                  <a:cubicBezTo>
                    <a:pt x="2588226" y="0"/>
                    <a:pt x="2607834" y="8122"/>
                    <a:pt x="2622292" y="22580"/>
                  </a:cubicBezTo>
                  <a:cubicBezTo>
                    <a:pt x="2636750" y="37038"/>
                    <a:pt x="2644872" y="56647"/>
                    <a:pt x="2644872" y="77093"/>
                  </a:cubicBezTo>
                  <a:lnTo>
                    <a:pt x="2644872" y="301853"/>
                  </a:lnTo>
                  <a:cubicBezTo>
                    <a:pt x="2644872" y="322299"/>
                    <a:pt x="2636750" y="341908"/>
                    <a:pt x="2622292" y="356366"/>
                  </a:cubicBezTo>
                  <a:cubicBezTo>
                    <a:pt x="2607834" y="370824"/>
                    <a:pt x="2588226" y="378946"/>
                    <a:pt x="2567779" y="378946"/>
                  </a:cubicBezTo>
                  <a:lnTo>
                    <a:pt x="77093" y="378946"/>
                  </a:lnTo>
                  <a:cubicBezTo>
                    <a:pt x="56647" y="378946"/>
                    <a:pt x="37038" y="370824"/>
                    <a:pt x="22580" y="356366"/>
                  </a:cubicBezTo>
                  <a:cubicBezTo>
                    <a:pt x="8122" y="341908"/>
                    <a:pt x="0" y="322299"/>
                    <a:pt x="0" y="301853"/>
                  </a:cubicBezTo>
                  <a:lnTo>
                    <a:pt x="0" y="77093"/>
                  </a:lnTo>
                  <a:cubicBezTo>
                    <a:pt x="0" y="56647"/>
                    <a:pt x="8122" y="37038"/>
                    <a:pt x="22580" y="22580"/>
                  </a:cubicBezTo>
                  <a:cubicBezTo>
                    <a:pt x="37038" y="8122"/>
                    <a:pt x="56647" y="0"/>
                    <a:pt x="77093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644872" cy="43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80138" y="2952865"/>
            <a:ext cx="1208265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Egypt’s External </a:t>
            </a:r>
            <a:r>
              <a:rPr lang="en-US" sz="4500" b="true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Debt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3381" y="4656826"/>
            <a:ext cx="9853631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</a:t>
            </a: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roeconomic factors associated with debt dynamics, 1970–2024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4419" y="9191625"/>
            <a:ext cx="491198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| Wo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rl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 B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nk WDI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78888" y="3087382"/>
            <a:ext cx="4635066" cy="864234"/>
            <a:chOff x="0" y="0"/>
            <a:chExt cx="1220758" cy="2276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758" cy="227617"/>
            </a:xfrm>
            <a:custGeom>
              <a:avLst/>
              <a:gdLst/>
              <a:ahLst/>
              <a:cxnLst/>
              <a:rect r="r" b="b" t="t" l="l"/>
              <a:pathLst>
                <a:path h="227617" w="1220758">
                  <a:moveTo>
                    <a:pt x="113809" y="0"/>
                  </a:moveTo>
                  <a:lnTo>
                    <a:pt x="1106949" y="0"/>
                  </a:lnTo>
                  <a:cubicBezTo>
                    <a:pt x="1169804" y="0"/>
                    <a:pt x="1220758" y="50954"/>
                    <a:pt x="1220758" y="113809"/>
                  </a:cubicBezTo>
                  <a:lnTo>
                    <a:pt x="1220758" y="113809"/>
                  </a:lnTo>
                  <a:cubicBezTo>
                    <a:pt x="1220758" y="143992"/>
                    <a:pt x="1208767" y="172940"/>
                    <a:pt x="1187424" y="194283"/>
                  </a:cubicBezTo>
                  <a:cubicBezTo>
                    <a:pt x="1166081" y="215627"/>
                    <a:pt x="1137133" y="227617"/>
                    <a:pt x="1106949" y="227617"/>
                  </a:cubicBezTo>
                  <a:lnTo>
                    <a:pt x="113809" y="227617"/>
                  </a:lnTo>
                  <a:cubicBezTo>
                    <a:pt x="83625" y="227617"/>
                    <a:pt x="54677" y="215627"/>
                    <a:pt x="33334" y="194283"/>
                  </a:cubicBezTo>
                  <a:cubicBezTo>
                    <a:pt x="11991" y="172940"/>
                    <a:pt x="0" y="143992"/>
                    <a:pt x="0" y="113809"/>
                  </a:cubicBezTo>
                  <a:lnTo>
                    <a:pt x="0" y="113809"/>
                  </a:lnTo>
                  <a:cubicBezTo>
                    <a:pt x="0" y="83625"/>
                    <a:pt x="11991" y="54677"/>
                    <a:pt x="33334" y="33334"/>
                  </a:cubicBezTo>
                  <a:cubicBezTo>
                    <a:pt x="54677" y="11991"/>
                    <a:pt x="83625" y="0"/>
                    <a:pt x="113809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220758" cy="294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GDP growth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29285" y="4358229"/>
            <a:ext cx="4635066" cy="864234"/>
            <a:chOff x="0" y="0"/>
            <a:chExt cx="1220758" cy="2276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0758" cy="227617"/>
            </a:xfrm>
            <a:custGeom>
              <a:avLst/>
              <a:gdLst/>
              <a:ahLst/>
              <a:cxnLst/>
              <a:rect r="r" b="b" t="t" l="l"/>
              <a:pathLst>
                <a:path h="227617" w="1220758">
                  <a:moveTo>
                    <a:pt x="113809" y="0"/>
                  </a:moveTo>
                  <a:lnTo>
                    <a:pt x="1106949" y="0"/>
                  </a:lnTo>
                  <a:cubicBezTo>
                    <a:pt x="1169804" y="0"/>
                    <a:pt x="1220758" y="50954"/>
                    <a:pt x="1220758" y="113809"/>
                  </a:cubicBezTo>
                  <a:lnTo>
                    <a:pt x="1220758" y="113809"/>
                  </a:lnTo>
                  <a:cubicBezTo>
                    <a:pt x="1220758" y="143992"/>
                    <a:pt x="1208767" y="172940"/>
                    <a:pt x="1187424" y="194283"/>
                  </a:cubicBezTo>
                  <a:cubicBezTo>
                    <a:pt x="1166081" y="215627"/>
                    <a:pt x="1137133" y="227617"/>
                    <a:pt x="1106949" y="227617"/>
                  </a:cubicBezTo>
                  <a:lnTo>
                    <a:pt x="113809" y="227617"/>
                  </a:lnTo>
                  <a:cubicBezTo>
                    <a:pt x="83625" y="227617"/>
                    <a:pt x="54677" y="215627"/>
                    <a:pt x="33334" y="194283"/>
                  </a:cubicBezTo>
                  <a:cubicBezTo>
                    <a:pt x="11991" y="172940"/>
                    <a:pt x="0" y="143992"/>
                    <a:pt x="0" y="113809"/>
                  </a:cubicBezTo>
                  <a:lnTo>
                    <a:pt x="0" y="113809"/>
                  </a:lnTo>
                  <a:cubicBezTo>
                    <a:pt x="0" y="83625"/>
                    <a:pt x="11991" y="54677"/>
                    <a:pt x="33334" y="33334"/>
                  </a:cubicBezTo>
                  <a:cubicBezTo>
                    <a:pt x="54677" y="11991"/>
                    <a:pt x="83625" y="0"/>
                    <a:pt x="113809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20758" cy="294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inflation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78888" y="5632038"/>
            <a:ext cx="4635066" cy="864234"/>
            <a:chOff x="0" y="0"/>
            <a:chExt cx="1220758" cy="2276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0758" cy="227617"/>
            </a:xfrm>
            <a:custGeom>
              <a:avLst/>
              <a:gdLst/>
              <a:ahLst/>
              <a:cxnLst/>
              <a:rect r="r" b="b" t="t" l="l"/>
              <a:pathLst>
                <a:path h="227617" w="1220758">
                  <a:moveTo>
                    <a:pt x="113809" y="0"/>
                  </a:moveTo>
                  <a:lnTo>
                    <a:pt x="1106949" y="0"/>
                  </a:lnTo>
                  <a:cubicBezTo>
                    <a:pt x="1169804" y="0"/>
                    <a:pt x="1220758" y="50954"/>
                    <a:pt x="1220758" y="113809"/>
                  </a:cubicBezTo>
                  <a:lnTo>
                    <a:pt x="1220758" y="113809"/>
                  </a:lnTo>
                  <a:cubicBezTo>
                    <a:pt x="1220758" y="143992"/>
                    <a:pt x="1208767" y="172940"/>
                    <a:pt x="1187424" y="194283"/>
                  </a:cubicBezTo>
                  <a:cubicBezTo>
                    <a:pt x="1166081" y="215627"/>
                    <a:pt x="1137133" y="227617"/>
                    <a:pt x="1106949" y="227617"/>
                  </a:cubicBezTo>
                  <a:lnTo>
                    <a:pt x="113809" y="227617"/>
                  </a:lnTo>
                  <a:cubicBezTo>
                    <a:pt x="83625" y="227617"/>
                    <a:pt x="54677" y="215627"/>
                    <a:pt x="33334" y="194283"/>
                  </a:cubicBezTo>
                  <a:cubicBezTo>
                    <a:pt x="11991" y="172940"/>
                    <a:pt x="0" y="143992"/>
                    <a:pt x="0" y="113809"/>
                  </a:cubicBezTo>
                  <a:lnTo>
                    <a:pt x="0" y="113809"/>
                  </a:lnTo>
                  <a:cubicBezTo>
                    <a:pt x="0" y="83625"/>
                    <a:pt x="11991" y="54677"/>
                    <a:pt x="33334" y="33334"/>
                  </a:cubicBezTo>
                  <a:cubicBezTo>
                    <a:pt x="54677" y="11991"/>
                    <a:pt x="83625" y="0"/>
                    <a:pt x="113809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20758" cy="284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Foreign direct investment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78888" y="6805746"/>
            <a:ext cx="4635066" cy="864234"/>
            <a:chOff x="0" y="0"/>
            <a:chExt cx="1220758" cy="2276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0758" cy="227617"/>
            </a:xfrm>
            <a:custGeom>
              <a:avLst/>
              <a:gdLst/>
              <a:ahLst/>
              <a:cxnLst/>
              <a:rect r="r" b="b" t="t" l="l"/>
              <a:pathLst>
                <a:path h="227617" w="1220758">
                  <a:moveTo>
                    <a:pt x="113809" y="0"/>
                  </a:moveTo>
                  <a:lnTo>
                    <a:pt x="1106949" y="0"/>
                  </a:lnTo>
                  <a:cubicBezTo>
                    <a:pt x="1169804" y="0"/>
                    <a:pt x="1220758" y="50954"/>
                    <a:pt x="1220758" y="113809"/>
                  </a:cubicBezTo>
                  <a:lnTo>
                    <a:pt x="1220758" y="113809"/>
                  </a:lnTo>
                  <a:cubicBezTo>
                    <a:pt x="1220758" y="143992"/>
                    <a:pt x="1208767" y="172940"/>
                    <a:pt x="1187424" y="194283"/>
                  </a:cubicBezTo>
                  <a:cubicBezTo>
                    <a:pt x="1166081" y="215627"/>
                    <a:pt x="1137133" y="227617"/>
                    <a:pt x="1106949" y="227617"/>
                  </a:cubicBezTo>
                  <a:lnTo>
                    <a:pt x="113809" y="227617"/>
                  </a:lnTo>
                  <a:cubicBezTo>
                    <a:pt x="83625" y="227617"/>
                    <a:pt x="54677" y="215627"/>
                    <a:pt x="33334" y="194283"/>
                  </a:cubicBezTo>
                  <a:cubicBezTo>
                    <a:pt x="11991" y="172940"/>
                    <a:pt x="0" y="143992"/>
                    <a:pt x="0" y="113809"/>
                  </a:cubicBezTo>
                  <a:lnTo>
                    <a:pt x="0" y="113809"/>
                  </a:lnTo>
                  <a:cubicBezTo>
                    <a:pt x="0" y="83625"/>
                    <a:pt x="11991" y="54677"/>
                    <a:pt x="33334" y="33334"/>
                  </a:cubicBezTo>
                  <a:cubicBezTo>
                    <a:pt x="54677" y="11991"/>
                    <a:pt x="83625" y="0"/>
                    <a:pt x="113809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220758" cy="294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Export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78888" y="8046585"/>
            <a:ext cx="4635066" cy="864234"/>
            <a:chOff x="0" y="0"/>
            <a:chExt cx="1220758" cy="2276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0758" cy="227617"/>
            </a:xfrm>
            <a:custGeom>
              <a:avLst/>
              <a:gdLst/>
              <a:ahLst/>
              <a:cxnLst/>
              <a:rect r="r" b="b" t="t" l="l"/>
              <a:pathLst>
                <a:path h="227617" w="1220758">
                  <a:moveTo>
                    <a:pt x="113809" y="0"/>
                  </a:moveTo>
                  <a:lnTo>
                    <a:pt x="1106949" y="0"/>
                  </a:lnTo>
                  <a:cubicBezTo>
                    <a:pt x="1169804" y="0"/>
                    <a:pt x="1220758" y="50954"/>
                    <a:pt x="1220758" y="113809"/>
                  </a:cubicBezTo>
                  <a:lnTo>
                    <a:pt x="1220758" y="113809"/>
                  </a:lnTo>
                  <a:cubicBezTo>
                    <a:pt x="1220758" y="143992"/>
                    <a:pt x="1208767" y="172940"/>
                    <a:pt x="1187424" y="194283"/>
                  </a:cubicBezTo>
                  <a:cubicBezTo>
                    <a:pt x="1166081" y="215627"/>
                    <a:pt x="1137133" y="227617"/>
                    <a:pt x="1106949" y="227617"/>
                  </a:cubicBezTo>
                  <a:lnTo>
                    <a:pt x="113809" y="227617"/>
                  </a:lnTo>
                  <a:cubicBezTo>
                    <a:pt x="83625" y="227617"/>
                    <a:pt x="54677" y="215627"/>
                    <a:pt x="33334" y="194283"/>
                  </a:cubicBezTo>
                  <a:cubicBezTo>
                    <a:pt x="11991" y="172940"/>
                    <a:pt x="0" y="143992"/>
                    <a:pt x="0" y="113809"/>
                  </a:cubicBezTo>
                  <a:lnTo>
                    <a:pt x="0" y="113809"/>
                  </a:lnTo>
                  <a:cubicBezTo>
                    <a:pt x="0" y="83625"/>
                    <a:pt x="11991" y="54677"/>
                    <a:pt x="33334" y="33334"/>
                  </a:cubicBezTo>
                  <a:cubicBezTo>
                    <a:pt x="54677" y="11991"/>
                    <a:pt x="83625" y="0"/>
                    <a:pt x="113809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20758" cy="294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Current Account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93587" y="208949"/>
            <a:ext cx="1071575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rch Que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</a:t>
            </a: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8156" y="1719447"/>
            <a:ext cx="1518070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Which macroeconomic factors are assoc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iated with changes in Egypt’s external public debt?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9084" y="3015562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9371" y="4245833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9084" y="6624184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9371" y="5479638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9084" y="7934189"/>
            <a:ext cx="13918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713407" y="391091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27619" y="1819559"/>
            <a:ext cx="9988873" cy="6019896"/>
          </a:xfrm>
          <a:custGeom>
            <a:avLst/>
            <a:gdLst/>
            <a:ahLst/>
            <a:cxnLst/>
            <a:rect r="r" b="b" t="t" l="l"/>
            <a:pathLst>
              <a:path h="6019896" w="9988873">
                <a:moveTo>
                  <a:pt x="0" y="0"/>
                </a:moveTo>
                <a:lnTo>
                  <a:pt x="9988873" y="0"/>
                </a:lnTo>
                <a:lnTo>
                  <a:pt x="9988873" y="6019896"/>
                </a:lnTo>
                <a:lnTo>
                  <a:pt x="0" y="6019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31" r="-687" b="-588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0806" y="373762"/>
            <a:ext cx="649355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Debt Trend 1970-2024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10327" y="1819559"/>
            <a:ext cx="5093371" cy="6019896"/>
            <a:chOff x="0" y="0"/>
            <a:chExt cx="1341464" cy="15854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464" cy="1585487"/>
            </a:xfrm>
            <a:custGeom>
              <a:avLst/>
              <a:gdLst/>
              <a:ahLst/>
              <a:cxnLst/>
              <a:rect r="r" b="b" t="t" l="l"/>
              <a:pathLst>
                <a:path h="1585487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507967"/>
                  </a:lnTo>
                  <a:cubicBezTo>
                    <a:pt x="1341464" y="1528527"/>
                    <a:pt x="1333297" y="1548244"/>
                    <a:pt x="1318759" y="1562782"/>
                  </a:cubicBezTo>
                  <a:cubicBezTo>
                    <a:pt x="1304221" y="1577320"/>
                    <a:pt x="1284504" y="1585487"/>
                    <a:pt x="1263944" y="1585487"/>
                  </a:cubicBezTo>
                  <a:lnTo>
                    <a:pt x="77520" y="1585487"/>
                  </a:lnTo>
                  <a:cubicBezTo>
                    <a:pt x="34707" y="1585487"/>
                    <a:pt x="0" y="1550780"/>
                    <a:pt x="0" y="1507967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464" cy="165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2535" y="2391720"/>
            <a:ext cx="4268955" cy="477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Egypt’s external public debt followed different historical phases.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After a relatively stable period, debt accelerated sharply from the mid-2010s and reached its highest levels near the end of the sample.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20087" y="1611796"/>
            <a:ext cx="9522694" cy="5816524"/>
          </a:xfrm>
          <a:custGeom>
            <a:avLst/>
            <a:gdLst/>
            <a:ahLst/>
            <a:cxnLst/>
            <a:rect r="r" b="b" t="t" l="l"/>
            <a:pathLst>
              <a:path h="5816524" w="9522694">
                <a:moveTo>
                  <a:pt x="0" y="0"/>
                </a:moveTo>
                <a:lnTo>
                  <a:pt x="9522695" y="0"/>
                </a:lnTo>
                <a:lnTo>
                  <a:pt x="9522695" y="5816524"/>
                </a:lnTo>
                <a:lnTo>
                  <a:pt x="0" y="5816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47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0806" y="373762"/>
            <a:ext cx="649355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Annual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Growth &amp; Volatility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0806" y="1532491"/>
            <a:ext cx="5093371" cy="5895829"/>
            <a:chOff x="0" y="0"/>
            <a:chExt cx="1341464" cy="15528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464" cy="1552811"/>
            </a:xfrm>
            <a:custGeom>
              <a:avLst/>
              <a:gdLst/>
              <a:ahLst/>
              <a:cxnLst/>
              <a:rect r="r" b="b" t="t" l="l"/>
              <a:pathLst>
                <a:path h="1552811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475291"/>
                  </a:lnTo>
                  <a:cubicBezTo>
                    <a:pt x="1341464" y="1495851"/>
                    <a:pt x="1333297" y="1515568"/>
                    <a:pt x="1318759" y="1530106"/>
                  </a:cubicBezTo>
                  <a:cubicBezTo>
                    <a:pt x="1304221" y="1544644"/>
                    <a:pt x="1284504" y="1552811"/>
                    <a:pt x="1263944" y="1552811"/>
                  </a:cubicBezTo>
                  <a:lnTo>
                    <a:pt x="77520" y="1552811"/>
                  </a:lnTo>
                  <a:cubicBezTo>
                    <a:pt x="56960" y="1552811"/>
                    <a:pt x="37243" y="1544644"/>
                    <a:pt x="22705" y="1530106"/>
                  </a:cubicBezTo>
                  <a:cubicBezTo>
                    <a:pt x="8167" y="1515568"/>
                    <a:pt x="0" y="1495851"/>
                    <a:pt x="0" y="1475291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464" cy="1619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8158" y="2389351"/>
            <a:ext cx="4358667" cy="41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Annual debt growth was highly volatile. Several years recorded sharp increases, while others experienced declines.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Debt accumulation did not follow a constant pattern.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58586" y="1602933"/>
            <a:ext cx="9524388" cy="6149206"/>
          </a:xfrm>
          <a:custGeom>
            <a:avLst/>
            <a:gdLst/>
            <a:ahLst/>
            <a:cxnLst/>
            <a:rect r="r" b="b" t="t" l="l"/>
            <a:pathLst>
              <a:path h="6149206" w="9524388">
                <a:moveTo>
                  <a:pt x="0" y="0"/>
                </a:moveTo>
                <a:lnTo>
                  <a:pt x="9524388" y="0"/>
                </a:lnTo>
                <a:lnTo>
                  <a:pt x="9524388" y="6149207"/>
                </a:lnTo>
                <a:lnTo>
                  <a:pt x="0" y="6149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7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0806" y="373762"/>
            <a:ext cx="649355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Mac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roeconomic Context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9825" y="1707430"/>
            <a:ext cx="6857714" cy="3179268"/>
            <a:chOff x="0" y="0"/>
            <a:chExt cx="1806147" cy="8373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6147" cy="837338"/>
            </a:xfrm>
            <a:custGeom>
              <a:avLst/>
              <a:gdLst/>
              <a:ahLst/>
              <a:cxnLst/>
              <a:rect r="r" b="b" t="t" l="l"/>
              <a:pathLst>
                <a:path h="837338" w="1806147">
                  <a:moveTo>
                    <a:pt x="57576" y="0"/>
                  </a:moveTo>
                  <a:lnTo>
                    <a:pt x="1748571" y="0"/>
                  </a:lnTo>
                  <a:cubicBezTo>
                    <a:pt x="1763841" y="0"/>
                    <a:pt x="1778486" y="6066"/>
                    <a:pt x="1789283" y="16864"/>
                  </a:cubicBezTo>
                  <a:cubicBezTo>
                    <a:pt x="1800081" y="27661"/>
                    <a:pt x="1806147" y="42306"/>
                    <a:pt x="1806147" y="57576"/>
                  </a:cubicBezTo>
                  <a:lnTo>
                    <a:pt x="1806147" y="779762"/>
                  </a:lnTo>
                  <a:cubicBezTo>
                    <a:pt x="1806147" y="795032"/>
                    <a:pt x="1800081" y="809677"/>
                    <a:pt x="1789283" y="820474"/>
                  </a:cubicBezTo>
                  <a:cubicBezTo>
                    <a:pt x="1778486" y="831272"/>
                    <a:pt x="1763841" y="837338"/>
                    <a:pt x="1748571" y="837338"/>
                  </a:cubicBezTo>
                  <a:lnTo>
                    <a:pt x="57576" y="837338"/>
                  </a:lnTo>
                  <a:cubicBezTo>
                    <a:pt x="42306" y="837338"/>
                    <a:pt x="27661" y="831272"/>
                    <a:pt x="16864" y="820474"/>
                  </a:cubicBezTo>
                  <a:cubicBezTo>
                    <a:pt x="6066" y="809677"/>
                    <a:pt x="0" y="795032"/>
                    <a:pt x="0" y="779762"/>
                  </a:cubicBezTo>
                  <a:lnTo>
                    <a:pt x="0" y="57576"/>
                  </a:lnTo>
                  <a:cubicBezTo>
                    <a:pt x="0" y="42306"/>
                    <a:pt x="6066" y="27661"/>
                    <a:pt x="16864" y="16864"/>
                  </a:cubicBezTo>
                  <a:cubicBezTo>
                    <a:pt x="27661" y="6066"/>
                    <a:pt x="42306" y="0"/>
                    <a:pt x="57576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806147" cy="90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Egypt’s macroeconomic environment changed substantially across the period. GDP growth, inflation, FDI, exports and the current account all experienced periods of significant variation.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2377" y="6487855"/>
            <a:ext cx="7455796" cy="1264285"/>
            <a:chOff x="0" y="0"/>
            <a:chExt cx="1963666" cy="332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63666" cy="332980"/>
            </a:xfrm>
            <a:custGeom>
              <a:avLst/>
              <a:gdLst/>
              <a:ahLst/>
              <a:cxnLst/>
              <a:rect r="r" b="b" t="t" l="l"/>
              <a:pathLst>
                <a:path h="332980" w="1963666">
                  <a:moveTo>
                    <a:pt x="52957" y="0"/>
                  </a:moveTo>
                  <a:lnTo>
                    <a:pt x="1910709" y="0"/>
                  </a:lnTo>
                  <a:cubicBezTo>
                    <a:pt x="1939957" y="0"/>
                    <a:pt x="1963666" y="23710"/>
                    <a:pt x="1963666" y="52957"/>
                  </a:cubicBezTo>
                  <a:lnTo>
                    <a:pt x="1963666" y="280023"/>
                  </a:lnTo>
                  <a:cubicBezTo>
                    <a:pt x="1963666" y="294068"/>
                    <a:pt x="1958087" y="307538"/>
                    <a:pt x="1948156" y="317470"/>
                  </a:cubicBezTo>
                  <a:cubicBezTo>
                    <a:pt x="1938224" y="327401"/>
                    <a:pt x="1924754" y="332980"/>
                    <a:pt x="1910709" y="332980"/>
                  </a:cubicBezTo>
                  <a:lnTo>
                    <a:pt x="52957" y="332980"/>
                  </a:lnTo>
                  <a:cubicBezTo>
                    <a:pt x="38912" y="332980"/>
                    <a:pt x="25442" y="327401"/>
                    <a:pt x="15511" y="317470"/>
                  </a:cubicBezTo>
                  <a:cubicBezTo>
                    <a:pt x="5579" y="307538"/>
                    <a:pt x="0" y="294068"/>
                    <a:pt x="0" y="280023"/>
                  </a:cubicBezTo>
                  <a:lnTo>
                    <a:pt x="0" y="52957"/>
                  </a:lnTo>
                  <a:cubicBezTo>
                    <a:pt x="0" y="38912"/>
                    <a:pt x="5579" y="25442"/>
                    <a:pt x="15511" y="15511"/>
                  </a:cubicBezTo>
                  <a:cubicBezTo>
                    <a:pt x="25442" y="5579"/>
                    <a:pt x="38912" y="0"/>
                    <a:pt x="52957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63666" cy="39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Debt dynamics should be interpreted within the broader macroeconomic environment.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79825" y="5620290"/>
            <a:ext cx="2908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matters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70637" y="1899425"/>
            <a:ext cx="7746381" cy="6356448"/>
          </a:xfrm>
          <a:custGeom>
            <a:avLst/>
            <a:gdLst/>
            <a:ahLst/>
            <a:cxnLst/>
            <a:rect r="r" b="b" t="t" l="l"/>
            <a:pathLst>
              <a:path h="6356448" w="7746381">
                <a:moveTo>
                  <a:pt x="0" y="0"/>
                </a:moveTo>
                <a:lnTo>
                  <a:pt x="7746381" y="0"/>
                </a:lnTo>
                <a:lnTo>
                  <a:pt x="7746381" y="6356448"/>
                </a:lnTo>
                <a:lnTo>
                  <a:pt x="0" y="6356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622" t="0" r="-896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0806" y="373762"/>
            <a:ext cx="649355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 &amp; Scatter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6754" y="1899425"/>
            <a:ext cx="7784741" cy="3412980"/>
            <a:chOff x="0" y="0"/>
            <a:chExt cx="2050302" cy="8988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0302" cy="898892"/>
            </a:xfrm>
            <a:custGeom>
              <a:avLst/>
              <a:gdLst/>
              <a:ahLst/>
              <a:cxnLst/>
              <a:rect r="r" b="b" t="t" l="l"/>
              <a:pathLst>
                <a:path h="898892" w="2050302">
                  <a:moveTo>
                    <a:pt x="50719" y="0"/>
                  </a:moveTo>
                  <a:lnTo>
                    <a:pt x="1999583" y="0"/>
                  </a:lnTo>
                  <a:cubicBezTo>
                    <a:pt x="2027594" y="0"/>
                    <a:pt x="2050302" y="22708"/>
                    <a:pt x="2050302" y="50719"/>
                  </a:cubicBezTo>
                  <a:lnTo>
                    <a:pt x="2050302" y="848172"/>
                  </a:lnTo>
                  <a:cubicBezTo>
                    <a:pt x="2050302" y="861624"/>
                    <a:pt x="2044959" y="874525"/>
                    <a:pt x="2035447" y="884037"/>
                  </a:cubicBezTo>
                  <a:cubicBezTo>
                    <a:pt x="2025935" y="893548"/>
                    <a:pt x="2013034" y="898892"/>
                    <a:pt x="1999583" y="898892"/>
                  </a:cubicBezTo>
                  <a:lnTo>
                    <a:pt x="50719" y="898892"/>
                  </a:lnTo>
                  <a:cubicBezTo>
                    <a:pt x="22708" y="898892"/>
                    <a:pt x="0" y="876184"/>
                    <a:pt x="0" y="848172"/>
                  </a:cubicBezTo>
                  <a:lnTo>
                    <a:pt x="0" y="50719"/>
                  </a:lnTo>
                  <a:cubicBezTo>
                    <a:pt x="0" y="37268"/>
                    <a:pt x="5344" y="24367"/>
                    <a:pt x="14855" y="14855"/>
                  </a:cubicBezTo>
                  <a:cubicBezTo>
                    <a:pt x="24367" y="5344"/>
                    <a:pt x="37268" y="0"/>
                    <a:pt x="5071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50302" cy="96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042771"/>
            <a:ext cx="6979080" cy="293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b="true" sz="23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Pairwise correlations were generally weak to moderate.</a:t>
            </a:r>
          </a:p>
          <a:p>
            <a:pPr algn="l">
              <a:lnSpc>
                <a:spcPts val="3352"/>
              </a:lnSpc>
              <a:spcBef>
                <a:spcPct val="0"/>
              </a:spcBef>
            </a:pPr>
          </a:p>
          <a:p>
            <a:pPr algn="l">
              <a:lnSpc>
                <a:spcPts val="3352"/>
              </a:lnSpc>
              <a:spcBef>
                <a:spcPct val="0"/>
              </a:spcBef>
            </a:pPr>
            <a:r>
              <a:rPr lang="en-US" b="true" sz="239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Inflation and FDI showed positive correlations with external debt, while GDP growth, exports and the current account showed negative correlations.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81613" y="5844442"/>
            <a:ext cx="5123275" cy="826135"/>
            <a:chOff x="0" y="0"/>
            <a:chExt cx="1349340" cy="2175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9340" cy="217583"/>
            </a:xfrm>
            <a:custGeom>
              <a:avLst/>
              <a:gdLst/>
              <a:ahLst/>
              <a:cxnLst/>
              <a:rect r="r" b="b" t="t" l="l"/>
              <a:pathLst>
                <a:path h="217583" w="1349340">
                  <a:moveTo>
                    <a:pt x="77067" y="0"/>
                  </a:moveTo>
                  <a:lnTo>
                    <a:pt x="1272272" y="0"/>
                  </a:lnTo>
                  <a:cubicBezTo>
                    <a:pt x="1314836" y="0"/>
                    <a:pt x="1349340" y="34504"/>
                    <a:pt x="1349340" y="77067"/>
                  </a:cubicBezTo>
                  <a:lnTo>
                    <a:pt x="1349340" y="140515"/>
                  </a:lnTo>
                  <a:cubicBezTo>
                    <a:pt x="1349340" y="183079"/>
                    <a:pt x="1314836" y="217583"/>
                    <a:pt x="1272272" y="217583"/>
                  </a:cubicBezTo>
                  <a:lnTo>
                    <a:pt x="77067" y="217583"/>
                  </a:lnTo>
                  <a:cubicBezTo>
                    <a:pt x="34504" y="217583"/>
                    <a:pt x="0" y="183079"/>
                    <a:pt x="0" y="140515"/>
                  </a:cubicBezTo>
                  <a:lnTo>
                    <a:pt x="0" y="77067"/>
                  </a:lnTo>
                  <a:cubicBezTo>
                    <a:pt x="0" y="34504"/>
                    <a:pt x="34504" y="0"/>
                    <a:pt x="77067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49340" cy="284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Correlation ≠ causation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65272" y="346235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0039" y="657851"/>
            <a:ext cx="887093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What R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emains Significant After Controlling for Other Factors?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837120"/>
            <a:ext cx="7784741" cy="1264285"/>
            <a:chOff x="0" y="0"/>
            <a:chExt cx="2050302" cy="332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0302" cy="332980"/>
            </a:xfrm>
            <a:custGeom>
              <a:avLst/>
              <a:gdLst/>
              <a:ahLst/>
              <a:cxnLst/>
              <a:rect r="r" b="b" t="t" l="l"/>
              <a:pathLst>
                <a:path h="332980" w="2050302">
                  <a:moveTo>
                    <a:pt x="50719" y="0"/>
                  </a:moveTo>
                  <a:lnTo>
                    <a:pt x="1999583" y="0"/>
                  </a:lnTo>
                  <a:cubicBezTo>
                    <a:pt x="2027594" y="0"/>
                    <a:pt x="2050302" y="22708"/>
                    <a:pt x="2050302" y="50719"/>
                  </a:cubicBezTo>
                  <a:lnTo>
                    <a:pt x="2050302" y="282261"/>
                  </a:lnTo>
                  <a:cubicBezTo>
                    <a:pt x="2050302" y="295713"/>
                    <a:pt x="2044959" y="308613"/>
                    <a:pt x="2035447" y="318125"/>
                  </a:cubicBezTo>
                  <a:cubicBezTo>
                    <a:pt x="2025935" y="327637"/>
                    <a:pt x="2013034" y="332980"/>
                    <a:pt x="1999583" y="332980"/>
                  </a:cubicBezTo>
                  <a:lnTo>
                    <a:pt x="50719" y="332980"/>
                  </a:lnTo>
                  <a:cubicBezTo>
                    <a:pt x="37268" y="332980"/>
                    <a:pt x="24367" y="327637"/>
                    <a:pt x="14855" y="318125"/>
                  </a:cubicBezTo>
                  <a:cubicBezTo>
                    <a:pt x="5344" y="308613"/>
                    <a:pt x="0" y="295713"/>
                    <a:pt x="0" y="282261"/>
                  </a:cubicBezTo>
                  <a:lnTo>
                    <a:pt x="0" y="50719"/>
                  </a:lnTo>
                  <a:cubicBezTo>
                    <a:pt x="0" y="37268"/>
                    <a:pt x="5344" y="24367"/>
                    <a:pt x="14855" y="14855"/>
                  </a:cubicBezTo>
                  <a:cubicBezTo>
                    <a:pt x="24367" y="5344"/>
                    <a:pt x="37268" y="0"/>
                    <a:pt x="5071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50302" cy="39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Multiple Regression | Debt Growth as the Dependent Variable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62073" y="1837120"/>
            <a:ext cx="8264033" cy="5414881"/>
          </a:xfrm>
          <a:custGeom>
            <a:avLst/>
            <a:gdLst/>
            <a:ahLst/>
            <a:cxnLst/>
            <a:rect r="r" b="b" t="t" l="l"/>
            <a:pathLst>
              <a:path h="5414881" w="8264033">
                <a:moveTo>
                  <a:pt x="0" y="0"/>
                </a:moveTo>
                <a:lnTo>
                  <a:pt x="8264033" y="0"/>
                </a:lnTo>
                <a:lnTo>
                  <a:pt x="8264033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20442" y="1721942"/>
            <a:ext cx="8577200" cy="5600381"/>
            <a:chOff x="0" y="0"/>
            <a:chExt cx="2259016" cy="14749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59016" cy="1474997"/>
            </a:xfrm>
            <a:custGeom>
              <a:avLst/>
              <a:gdLst/>
              <a:ahLst/>
              <a:cxnLst/>
              <a:rect r="r" b="b" t="t" l="l"/>
              <a:pathLst>
                <a:path h="1474997" w="2259016">
                  <a:moveTo>
                    <a:pt x="46033" y="0"/>
                  </a:moveTo>
                  <a:lnTo>
                    <a:pt x="2212982" y="0"/>
                  </a:lnTo>
                  <a:cubicBezTo>
                    <a:pt x="2225191" y="0"/>
                    <a:pt x="2236900" y="4850"/>
                    <a:pt x="2245533" y="13483"/>
                  </a:cubicBezTo>
                  <a:cubicBezTo>
                    <a:pt x="2254166" y="22116"/>
                    <a:pt x="2259016" y="33825"/>
                    <a:pt x="2259016" y="46033"/>
                  </a:cubicBezTo>
                  <a:lnTo>
                    <a:pt x="2259016" y="1428964"/>
                  </a:lnTo>
                  <a:cubicBezTo>
                    <a:pt x="2259016" y="1441173"/>
                    <a:pt x="2254166" y="1452882"/>
                    <a:pt x="2245533" y="1461515"/>
                  </a:cubicBezTo>
                  <a:cubicBezTo>
                    <a:pt x="2236900" y="1470148"/>
                    <a:pt x="2225191" y="1474997"/>
                    <a:pt x="2212982" y="1474997"/>
                  </a:cubicBezTo>
                  <a:lnTo>
                    <a:pt x="46033" y="1474997"/>
                  </a:lnTo>
                  <a:cubicBezTo>
                    <a:pt x="20610" y="1474997"/>
                    <a:pt x="0" y="1454388"/>
                    <a:pt x="0" y="1428964"/>
                  </a:cubicBezTo>
                  <a:lnTo>
                    <a:pt x="0" y="46033"/>
                  </a:lnTo>
                  <a:cubicBezTo>
                    <a:pt x="0" y="33825"/>
                    <a:pt x="4850" y="22116"/>
                    <a:pt x="13483" y="13483"/>
                  </a:cubicBezTo>
                  <a:cubicBezTo>
                    <a:pt x="22116" y="4850"/>
                    <a:pt x="33825" y="0"/>
                    <a:pt x="46033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259016" cy="1541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469774"/>
            <a:ext cx="2416953" cy="826135"/>
            <a:chOff x="0" y="0"/>
            <a:chExt cx="636564" cy="2175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564" cy="217583"/>
            </a:xfrm>
            <a:custGeom>
              <a:avLst/>
              <a:gdLst/>
              <a:ahLst/>
              <a:cxnLst/>
              <a:rect r="r" b="b" t="t" l="l"/>
              <a:pathLst>
                <a:path h="217583" w="636564">
                  <a:moveTo>
                    <a:pt x="108791" y="0"/>
                  </a:moveTo>
                  <a:lnTo>
                    <a:pt x="527772" y="0"/>
                  </a:lnTo>
                  <a:cubicBezTo>
                    <a:pt x="587856" y="0"/>
                    <a:pt x="636564" y="48708"/>
                    <a:pt x="636564" y="108791"/>
                  </a:cubicBezTo>
                  <a:lnTo>
                    <a:pt x="636564" y="108791"/>
                  </a:lnTo>
                  <a:cubicBezTo>
                    <a:pt x="636564" y="137645"/>
                    <a:pt x="625102" y="165316"/>
                    <a:pt x="604699" y="185719"/>
                  </a:cubicBezTo>
                  <a:cubicBezTo>
                    <a:pt x="584297" y="206121"/>
                    <a:pt x="556626" y="217583"/>
                    <a:pt x="527772" y="217583"/>
                  </a:cubicBezTo>
                  <a:lnTo>
                    <a:pt x="108791" y="217583"/>
                  </a:lnTo>
                  <a:cubicBezTo>
                    <a:pt x="79938" y="217583"/>
                    <a:pt x="52267" y="206121"/>
                    <a:pt x="31864" y="185719"/>
                  </a:cubicBezTo>
                  <a:cubicBezTo>
                    <a:pt x="11462" y="165316"/>
                    <a:pt x="0" y="137645"/>
                    <a:pt x="0" y="108791"/>
                  </a:cubicBezTo>
                  <a:lnTo>
                    <a:pt x="0" y="108791"/>
                  </a:lnTo>
                  <a:cubicBezTo>
                    <a:pt x="0" y="79938"/>
                    <a:pt x="11462" y="52267"/>
                    <a:pt x="31864" y="31864"/>
                  </a:cubicBezTo>
                  <a:cubicBezTo>
                    <a:pt x="52267" y="11462"/>
                    <a:pt x="79938" y="0"/>
                    <a:pt x="108791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36564" cy="284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644335"/>
            <a:ext cx="6887041" cy="321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66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m</a:t>
            </a:r>
            <a:r>
              <a:rPr lang="en-US" b="true" sz="166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odel is statistically significant overall (p = 0.004) and explains around 32.5% of the variation in annual external debt growth.</a:t>
            </a:r>
          </a:p>
          <a:p>
            <a:pPr algn="l">
              <a:lnSpc>
                <a:spcPts val="2328"/>
              </a:lnSpc>
              <a:spcBef>
                <a:spcPct val="0"/>
              </a:spcBef>
            </a:pPr>
          </a:p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66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current account balance is the strongest statistically significant factor (β = -1.86, p = 0.003).</a:t>
            </a:r>
          </a:p>
          <a:p>
            <a:pPr algn="l">
              <a:lnSpc>
                <a:spcPts val="2328"/>
              </a:lnSpc>
              <a:spcBef>
                <a:spcPct val="0"/>
              </a:spcBef>
            </a:pPr>
          </a:p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66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FDI also shows a negative association (β = -1.65), but its significance is borderline (p = 0.052).</a:t>
            </a:r>
          </a:p>
          <a:p>
            <a:pPr algn="l">
              <a:lnSpc>
                <a:spcPts val="2328"/>
              </a:lnSpc>
              <a:spcBef>
                <a:spcPct val="0"/>
              </a:spcBef>
            </a:pPr>
          </a:p>
          <a:p>
            <a:pPr algn="l">
              <a:lnSpc>
                <a:spcPts val="2328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7693798"/>
            <a:ext cx="12733872" cy="1702435"/>
            <a:chOff x="0" y="0"/>
            <a:chExt cx="3353777" cy="4483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53777" cy="448378"/>
            </a:xfrm>
            <a:custGeom>
              <a:avLst/>
              <a:gdLst/>
              <a:ahLst/>
              <a:cxnLst/>
              <a:rect r="r" b="b" t="t" l="l"/>
              <a:pathLst>
                <a:path h="448378" w="3353777">
                  <a:moveTo>
                    <a:pt x="31007" y="0"/>
                  </a:moveTo>
                  <a:lnTo>
                    <a:pt x="3322770" y="0"/>
                  </a:lnTo>
                  <a:cubicBezTo>
                    <a:pt x="3339895" y="0"/>
                    <a:pt x="3353777" y="13882"/>
                    <a:pt x="3353777" y="31007"/>
                  </a:cubicBezTo>
                  <a:lnTo>
                    <a:pt x="3353777" y="417371"/>
                  </a:lnTo>
                  <a:cubicBezTo>
                    <a:pt x="3353777" y="434496"/>
                    <a:pt x="3339895" y="448378"/>
                    <a:pt x="3322770" y="448378"/>
                  </a:cubicBezTo>
                  <a:lnTo>
                    <a:pt x="31007" y="448378"/>
                  </a:lnTo>
                  <a:cubicBezTo>
                    <a:pt x="13882" y="448378"/>
                    <a:pt x="0" y="434496"/>
                    <a:pt x="0" y="417371"/>
                  </a:cubicBezTo>
                  <a:lnTo>
                    <a:pt x="0" y="31007"/>
                  </a:lnTo>
                  <a:cubicBezTo>
                    <a:pt x="0" y="13882"/>
                    <a:pt x="13882" y="0"/>
                    <a:pt x="31007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3353777" cy="515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 1 percentage-point improvement in the current account balance is associated with approximately 1.86 percentage points lower annual debt growth, holding the other variables constant.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51814" y="527486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8"/>
                </a:lnTo>
                <a:lnTo>
                  <a:pt x="0" y="1002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87058" y="8757086"/>
            <a:ext cx="570121" cy="570121"/>
          </a:xfrm>
          <a:custGeom>
            <a:avLst/>
            <a:gdLst/>
            <a:ahLst/>
            <a:cxnLst/>
            <a:rect r="r" b="b" t="t" l="l"/>
            <a:pathLst>
              <a:path h="570121" w="570121">
                <a:moveTo>
                  <a:pt x="0" y="0"/>
                </a:moveTo>
                <a:lnTo>
                  <a:pt x="570121" y="0"/>
                </a:lnTo>
                <a:lnTo>
                  <a:pt x="570121" y="570121"/>
                </a:lnTo>
                <a:lnTo>
                  <a:pt x="0" y="570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7058" y="9425623"/>
            <a:ext cx="583430" cy="583430"/>
          </a:xfrm>
          <a:custGeom>
            <a:avLst/>
            <a:gdLst/>
            <a:ahLst/>
            <a:cxnLst/>
            <a:rect r="r" b="b" t="t" l="l"/>
            <a:pathLst>
              <a:path h="583430" w="583430">
                <a:moveTo>
                  <a:pt x="0" y="0"/>
                </a:moveTo>
                <a:lnTo>
                  <a:pt x="583430" y="0"/>
                </a:lnTo>
                <a:lnTo>
                  <a:pt x="583430" y="583430"/>
                </a:lnTo>
                <a:lnTo>
                  <a:pt x="0" y="583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27030" y="1045419"/>
            <a:ext cx="6757392" cy="303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19"/>
              </a:lnSpc>
              <a:spcBef>
                <a:spcPct val="0"/>
              </a:spcBef>
            </a:pPr>
            <a:r>
              <a:rPr lang="en-US" b="true" sz="97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</a:t>
            </a:r>
            <a:r>
              <a:rPr lang="en-US" b="true" sz="97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368921" y="3385387"/>
            <a:ext cx="467394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rested in the full analysis?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699" y="4210049"/>
            <a:ext cx="1712174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complete pr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oject, including the R code, methodology, visualizations, and README documentation, is available on GitHub.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7777" y="5067300"/>
            <a:ext cx="52741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github.com/MOSTAFA-SOLIMAN777/Egypt-external-debt-analysis/tree/main"/>
              </a:rPr>
              <a:t>View Full Project on GitHub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3293" y="7852897"/>
            <a:ext cx="5674281" cy="122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b="true" sz="33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3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ostafa Soliman Donia</a:t>
            </a:r>
          </a:p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b="true" sz="33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Data &amp; Statistical Analyst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70488" y="8820002"/>
            <a:ext cx="2626379" cy="38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  <a:spcBef>
                <a:spcPct val="0"/>
              </a:spcBef>
            </a:pPr>
            <a:r>
              <a:rPr lang="en-US" b="true" sz="2211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7" tooltip="https://www.linkedin.com/in/mostafa-soliman-5610491b5"/>
              </a:rPr>
              <a:t>linkedin profile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97157" y="9492865"/>
            <a:ext cx="297304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  <a:hlinkClick r:id="rId8" tooltip="https://github.com/MOSTAFA-SOLIMAN777"/>
              </a:rPr>
              <a:t>Github profile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DAHSz3YhPHc</dc:identifier>
  <dcterms:modified xsi:type="dcterms:W3CDTF">2011-08-01T06:04:30Z</dcterms:modified>
  <cp:revision>1</cp:revision>
  <dc:title>Egypt’s External Debt Analysis</dc:title>
</cp:coreProperties>
</file>